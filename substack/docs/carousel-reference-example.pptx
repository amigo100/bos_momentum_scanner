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B44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4924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PULSE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457200" y="2011680"/>
            <a:ext cx="8229600" cy="8229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274320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DEFENCE SPENDING</a:t>
            </a:r>
            <a:endParaRPr lang="en-US" sz="5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HITS RECORDS</a:t>
            </a:r>
            <a:endParaRPr lang="en-US" sz="5800" dirty="0"/>
          </a:p>
        </p:txBody>
      </p:sp>
      <p:sp>
        <p:nvSpPr>
          <p:cNvPr id="10" name="Text 5"/>
          <p:cNvSpPr/>
          <p:nvPr/>
        </p:nvSpPr>
        <p:spPr>
          <a:xfrm>
            <a:off x="137160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$886B in global defence budgets is flowing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3200400" y="6583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474720" y="7680960"/>
            <a:ext cx="2194560" cy="411480"/>
          </a:xfrm>
          <a:prstGeom prst="rect">
            <a:avLst/>
          </a:prstGeom>
          <a:solidFill>
            <a:srgbClr val="162B44"/>
          </a:solidFill>
          <a:ln w="10160">
            <a:solidFill>
              <a:srgbClr val="3D5A8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474720" y="7680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5" name="Text 10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PULSE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Defence Supercycle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40080" y="201168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defence budgets hit $886B in 2025 — the highest since the Cold War. The US alone allocated $886B, with NATO allies collectively crossing the 2% GDP threshold for the first time.</a:t>
            </a:r>
            <a:endParaRPr lang="en-US" sz="1800" dirty="0"/>
          </a:p>
          <a:p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drivers aren’t going away. China’s military modernisation, the Russia-Ukraine conflict, and Middle East instability have created a multi-year spending cycle that isn’t tied to any single administration.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shift: spending is rotating from legacy platforms toward autonomous systems, space assets, and cyber capabilities.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40080" y="6400800"/>
            <a:ext cx="786384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6400800"/>
            <a:ext cx="54864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649224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 isn’t flowing to who built the last war’s weapons. It’s flowing to who’s building the next war’s platforms.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PULSE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640080" y="219456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219456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7"/>
          <p:cNvSpPr/>
          <p:nvPr/>
        </p:nvSpPr>
        <p:spPr>
          <a:xfrm>
            <a:off x="10515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$886B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10515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defence budget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— record high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754880" y="219456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219456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1"/>
          <p:cNvSpPr/>
          <p:nvPr/>
        </p:nvSpPr>
        <p:spPr>
          <a:xfrm>
            <a:off x="51663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+18%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51663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UAS spending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YoY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" y="502920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502920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5"/>
          <p:cNvSpPr/>
          <p:nvPr/>
        </p:nvSpPr>
        <p:spPr>
          <a:xfrm>
            <a:off x="1051560" y="5349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1051560" y="6263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NDAA small drone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754880" y="502920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54880" y="502920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19"/>
          <p:cNvSpPr/>
          <p:nvPr/>
        </p:nvSpPr>
        <p:spPr>
          <a:xfrm>
            <a:off x="5166360" y="5349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of 5</a:t>
            </a:r>
            <a:endParaRPr lang="en-US" sz="4000" dirty="0"/>
          </a:p>
        </p:txBody>
      </p:sp>
      <p:sp>
        <p:nvSpPr>
          <p:cNvPr id="24" name="Text 20"/>
          <p:cNvSpPr/>
          <p:nvPr/>
        </p:nvSpPr>
        <p:spPr>
          <a:xfrm>
            <a:off x="5166360" y="6263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positions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defence themes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26" name="Text 22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PULSE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Flows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640080" y="2194560"/>
            <a:ext cx="3749040" cy="5669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2194560"/>
            <a:ext cx="374904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FAST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7280" y="310896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drones &amp; UAS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Space-based ISR &amp; comms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electronic warfare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targeting systems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Satellite-to-device connectivity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energy weapons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754880" y="2194560"/>
            <a:ext cx="3749040" cy="5669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2194560"/>
            <a:ext cx="374904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212080" y="310896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manned fighter jets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armoured vehicles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surface combatants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artillery systems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surveillance networks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logistics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B44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71600" y="2103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cycle has years to run.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2606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NATO’s 2% pledge is becoming 2.5%. European rearmament alone is a decade-long tailwind for defence contractors.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71600" y="3520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caps are the play.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371600" y="40233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Lockheed and Raytheon are priced in. The asymmetric returns are in sub-$5B companies building the next-gen platforms.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371600" y="4937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is the inflection.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371600" y="5440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$1.2B NDAA drone line item is just the start. Ukraine proved autonomous systems change the calculus. Every military is adapting.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40080" y="640080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371600" y="6355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We’re positioned for this.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371600" y="68580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our 5 current positions sit in defence themes. Our scanner flagged this rotation 4 months before consensus.</a:t>
            </a:r>
            <a:endParaRPr lang="en-US" sz="15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57200" y="7863840"/>
            <a:ext cx="8229600" cy="4572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6" name="Text 21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Defence Spending Hits Records</dc:title>
  <dc:subject>PptxGenJS Presentation</dc:subject>
  <dc:creator>Sterling Signals</dc:creator>
  <cp:lastModifiedBy>Sterling Signals</cp:lastModifiedBy>
  <cp:revision>1</cp:revision>
  <dcterms:created xsi:type="dcterms:W3CDTF">2026-03-10T00:48:34Z</dcterms:created>
  <dcterms:modified xsi:type="dcterms:W3CDTF">2026-03-10T00:48:34Z</dcterms:modified>
</cp:coreProperties>
</file>